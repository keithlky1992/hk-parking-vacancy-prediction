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60" r:id="rId11"/>
    <p:sldId id="261" r:id="rId12"/>
    <p:sldId id="262" r:id="rId13"/>
    <p:sldId id="263" r:id="rId14"/>
    <p:sldId id="264" r:id="rId15"/>
    <p:sldId id="266" r:id="rId17"/>
    <p:sldId id="267" r:id="rId18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10.xml"/><Relationship Id="rId17" Type="http://schemas.openxmlformats.org/officeDocument/2006/relationships/slide" Target="slides/slide8.xml"/><Relationship Id="rId18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20.png"/><Relationship Id="rId15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46304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Calibri"/>
              </a:rPr>
              <a:t>CAPSTONE PROJECT  ·  GROUP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Hong Kong Parking Vacancy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「咪再兜」— Predict private-car vacancies 30–60 minutes ahead
with official open data, Machine Learning baselines, and an AI Agent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Members: Lee Ki Yick (Keith)  ·  Chin Ka Wang (Kelvin)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Group 4  ·  咪再兜 / HK Parking Vacancy Prediction  · 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Problem &amp; Research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486400" cy="4572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9488"/>
                </a:solidFill>
                <a:latin typeface="Calibri"/>
              </a:rPr>
              <a:t>The pain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Finding parking in HK is time-consuming and stressful</a:t>
            </a:r>
          </a:p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Drivers circle without knowing where spaces will open</a:t>
            </a:r>
          </a:p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Official vacancy data exists — but hard to use in real time</a:t>
            </a:r>
          </a:p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Need forward-looking guidance, not only “now”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486400" cy="4572000"/>
          </a:xfrm>
          <a:prstGeom prst="roundRect">
            <a:avLst/>
          </a:prstGeom>
          <a:solidFill>
            <a:srgbClr val="ECFE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9488"/>
                </a:solidFill>
                <a:latin typeface="Calibri"/>
              </a:rPr>
              <a:t>Research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Can we predict whether a car park will have private-car vacancies (classification) and how many (regression) 30–60 minutes ahead, using official real-time data + time features — and beat a same-weekday-same-hour historical baseline?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Group 4  ·  咪再兜 / HK Parking Vacancy Prediction  · 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Dataset Description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43200" cy="15544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D9488"/>
                </a:solidFill>
                <a:latin typeface="Calibri"/>
              </a:rPr>
              <a:t>~592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Calibri"/>
              </a:rPr>
              <a:t>Car parks (territory-wide)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188720"/>
            <a:ext cx="2743200" cy="15544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D9488"/>
                </a:solidFill>
                <a:latin typeface="Calibri"/>
              </a:rPr>
              <a:t>~18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488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Calibri"/>
              </a:rPr>
              <a:t>HK districts covered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17520"/>
            <a:ext cx="2743200" cy="15544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D9488"/>
                </a:solidFill>
                <a:latin typeface="Calibri"/>
              </a:rPr>
              <a:t>~34.9k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7763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Calibri"/>
              </a:rPr>
              <a:t>Historical snapshots (1 yr)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017520"/>
            <a:ext cx="2743200" cy="15544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3337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D9488"/>
                </a:solidFill>
                <a:latin typeface="Calibri"/>
              </a:rPr>
              <a:t>~10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97763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Calibri"/>
              </a:rPr>
              <a:t>Collection cadence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188720"/>
            <a:ext cx="5303520" cy="48920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9488"/>
                </a:solidFill>
                <a:latin typeface="Calibri"/>
              </a:rPr>
              <a:t>Sources &amp; characteristics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828800"/>
            <a:ext cx="4937760" cy="3995928"/>
          </a:xfrm>
          <a:prstGeom prst="rect">
            <a:avLst/>
          </a:prstGeom>
          <a:noFill/>
        </p:spPr>
        <p:txBody>
          <a:bodyPr wrap="square" bIns="164592">
            <a:spAutoFit/>
          </a:bodyPr>
          <a:lstStyle/>
          <a:p>
            <a:pPr marL="228600" indent="-228600">
              <a:buFont typeface="Arial"/>
              <a:buChar char="•"/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Transport Department (TD) / data.gov.hk Carpark Info Vacancy API (live + fees)</a:t>
            </a:r>
          </a:p>
          <a:p>
            <a:pPr marL="228600" indent="-228600">
              <a:buFont typeface="Arial"/>
              <a:buChar char="•"/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Hong Kong Observatory (HKO) Weather API (temp, humidity, regional stations)</a:t>
            </a:r>
          </a:p>
          <a:p>
            <a:pPr marL="228600" indent="-228600">
              <a:buFont typeface="Arial"/>
              <a:buChar char="•"/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Supabase Postgres API (carparks, vacancy, weather)</a:t>
            </a:r>
          </a:p>
          <a:p>
            <a:pPr marL="228600" indent="-228600">
              <a:buFont typeface="Arial"/>
              <a:buChar char="•"/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DeepSeek Chat API (natural language (NL) intent / agent replies)</a:t>
            </a:r>
          </a:p>
          <a:p>
            <a:pPr marL="228600" indent="-228600">
              <a:buFont typeface="Arial"/>
              <a:buChar char="•"/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Google Maps Geocoding + Maps JavaScript APIs</a:t>
            </a:r>
          </a:p>
          <a:p>
            <a:pPr marL="228600" indent="-228600">
              <a:buFont typeface="Arial"/>
              <a:buChar char="•"/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Google Speech Recognition API (voice input)</a:t>
            </a:r>
          </a:p>
          <a:p>
            <a:pPr marL="228600" indent="-228600">
              <a:buFont typeface="Arial"/>
              <a:buChar char="•"/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Microsoft Edge Text-to-Speech (Cantonese voice output)</a:t>
            </a:r>
          </a:p>
          <a:p>
            <a:pPr marL="228600" indent="-228600">
              <a:buFont typeface="Arial"/>
              <a:buChar char="•"/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Features: hour, day of week (DOW), weekend, park/district, temperature</a:t>
            </a:r>
          </a:p>
          <a:p>
            <a:pPr marL="228600" indent="-228600">
              <a:buFont typeface="Arial"/>
              <a:buChar char="•"/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Scope: car-park vacancy, not on-street meters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Group 4  ·  咪再兜 / HK Parking Vacancy Prediction  · 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Calibri"/>
              </a:rPr>
              <a:t>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Methodology &amp;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11880"/>
            <a:ext cx="3657600" cy="27432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9488"/>
                </a:solidFill>
                <a:latin typeface="Calibri"/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519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Same park × hour × weekday mean</a:t>
            </a:r>
          </a:p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Built from 365-day history</a:t>
            </a:r>
          </a:p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Strong, interpretable reference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611880"/>
            <a:ext cx="3657600" cy="27432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794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9488"/>
                </a:solidFill>
                <a:latin typeface="Calibri"/>
              </a:rPr>
              <a:t>Machine Learning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2519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Gradient Boosting Regressor → vacancy count</a:t>
            </a:r>
          </a:p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Gradient Boosting Classifier → has_vacancy</a:t>
            </a:r>
          </a:p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Time-based 70/30 train/test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611880"/>
            <a:ext cx="3657600" cy="27432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794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9488"/>
                </a:solidFill>
                <a:latin typeface="Calibri"/>
              </a:rPr>
              <a:t>GenAI 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2519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DeepSeek → Natural Language intent parsing</a:t>
            </a:r>
          </a:p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Google Geocoding + Maps JavaScript</a:t>
            </a:r>
          </a:p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Google Speech-to-Text + Edge Text-to-Speech (Cantonese)</a:t>
            </a:r>
          </a:p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Nearby ranking + recommendations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9407" y="1097280"/>
            <a:ext cx="2176272" cy="1965960"/>
          </a:xfrm>
          <a:prstGeom prst="roundRect">
            <a:avLst>
              <a:gd name="adj" fmla="val 18000"/>
            </a:avLst>
          </a:prstGeom>
          <a:solidFill>
            <a:srgbClr val="E8F4F8"/>
          </a:solidFill>
          <a:ln w="19050">
            <a:solidFill>
              <a:srgbClr val="7BA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28016" bIns="91440"/>
          <a:lstStyle/>
          <a:p>
            <a:pPr algn="ctr"/>
            <a:r>
              <a:rPr sz="1800" b="1">
                <a:solidFill>
                  <a:srgbClr val="1A3A4A"/>
                </a:solidFill>
                <a:latin typeface="Calibri"/>
              </a:rPr>
              <a:t>Data sources</a:t>
            </a:r>
          </a:p>
          <a:p>
            <a:r>
              <a:rPr sz="400"/>
              <a:t/>
            </a:r>
          </a:p>
          <a:p>
            <a:pPr algn="l" marL="228600" indent="-228600">
              <a:buFont typeface="Arial"/>
              <a:buChar char="•"/>
            </a:pPr>
            <a:r>
              <a:rPr sz="1300" b="0">
                <a:solidFill>
                  <a:srgbClr val="0F172A"/>
                </a:solidFill>
                <a:latin typeface="Calibri"/>
              </a:rPr>
              <a:t>Transport Department Vacancy API</a:t>
            </a:r>
          </a:p>
          <a:p>
            <a:pPr algn="l" marL="228600" indent="-228600">
              <a:buFont typeface="Arial"/>
              <a:buChar char="•"/>
            </a:pPr>
            <a:r>
              <a:rPr sz="1300" b="0">
                <a:solidFill>
                  <a:srgbClr val="0F172A"/>
                </a:solidFill>
                <a:latin typeface="Calibri"/>
              </a:rPr>
              <a:t>Hong Kong Observatory Weather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483967" y="2007108"/>
            <a:ext cx="146304" cy="146304"/>
          </a:xfrm>
          <a:prstGeom prst="rightArrow">
            <a:avLst/>
          </a:prstGeom>
          <a:solidFill>
            <a:srgbClr val="7BA3B5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648559" y="1097280"/>
            <a:ext cx="2176272" cy="1965960"/>
          </a:xfrm>
          <a:prstGeom prst="roundRect">
            <a:avLst>
              <a:gd name="adj" fmla="val 18000"/>
            </a:avLst>
          </a:prstGeom>
          <a:solidFill>
            <a:srgbClr val="E8F4F8"/>
          </a:solidFill>
          <a:ln w="19050">
            <a:solidFill>
              <a:srgbClr val="7BA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28016" bIns="91440"/>
          <a:lstStyle/>
          <a:p>
            <a:pPr algn="ctr"/>
            <a:r>
              <a:rPr sz="1800" b="1">
                <a:solidFill>
                  <a:srgbClr val="1A3A4A"/>
                </a:solidFill>
                <a:latin typeface="Calibri"/>
              </a:rPr>
              <a:t>Extract, Transform, Load</a:t>
            </a:r>
          </a:p>
          <a:p>
            <a:r>
              <a:rPr sz="400"/>
              <a:t/>
            </a:r>
          </a:p>
          <a:p>
            <a:pPr algn="l" marL="228600" indent="-228600">
              <a:buFont typeface="Arial"/>
              <a:buChar char="•"/>
            </a:pPr>
            <a:r>
              <a:rPr sz="1300" b="0">
                <a:solidFill>
                  <a:srgbClr val="0F172A"/>
                </a:solidFill>
                <a:latin typeface="Calibri"/>
              </a:rPr>
              <a:t>Collect &amp; join every ~10 min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43119" y="2007108"/>
            <a:ext cx="146304" cy="146304"/>
          </a:xfrm>
          <a:prstGeom prst="rightArrow">
            <a:avLst/>
          </a:prstGeom>
          <a:solidFill>
            <a:srgbClr val="7BA3B5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07711" y="1097280"/>
            <a:ext cx="2176272" cy="1965960"/>
          </a:xfrm>
          <a:prstGeom prst="roundRect">
            <a:avLst>
              <a:gd name="adj" fmla="val 18000"/>
            </a:avLst>
          </a:prstGeom>
          <a:solidFill>
            <a:srgbClr val="E8F4F8"/>
          </a:solidFill>
          <a:ln w="19050">
            <a:solidFill>
              <a:srgbClr val="7BA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28016" bIns="91440"/>
          <a:lstStyle/>
          <a:p>
            <a:pPr algn="ctr"/>
            <a:r>
              <a:rPr sz="1800" b="1">
                <a:solidFill>
                  <a:srgbClr val="1A3A4A"/>
                </a:solidFill>
                <a:latin typeface="Calibri"/>
              </a:rPr>
              <a:t>Store</a:t>
            </a:r>
          </a:p>
          <a:p>
            <a:r>
              <a:rPr sz="400"/>
              <a:t/>
            </a:r>
          </a:p>
          <a:p>
            <a:pPr algn="l" marL="228600" indent="-228600">
              <a:buFont typeface="Arial"/>
              <a:buChar char="•"/>
            </a:pPr>
            <a:r>
              <a:rPr sz="1300" b="0">
                <a:solidFill>
                  <a:srgbClr val="0F172A"/>
                </a:solidFill>
                <a:latin typeface="Calibri"/>
              </a:rPr>
              <a:t>SQLite / Supabase API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202271" y="2007108"/>
            <a:ext cx="146304" cy="146304"/>
          </a:xfrm>
          <a:prstGeom prst="rightArrow">
            <a:avLst/>
          </a:prstGeom>
          <a:solidFill>
            <a:srgbClr val="7BA3B5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66863" y="1097280"/>
            <a:ext cx="2176272" cy="1965960"/>
          </a:xfrm>
          <a:prstGeom prst="roundRect">
            <a:avLst>
              <a:gd name="adj" fmla="val 18000"/>
            </a:avLst>
          </a:prstGeom>
          <a:solidFill>
            <a:srgbClr val="E8F4F8"/>
          </a:solidFill>
          <a:ln w="19050">
            <a:solidFill>
              <a:srgbClr val="7BA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28016" bIns="91440"/>
          <a:lstStyle/>
          <a:p>
            <a:pPr algn="ctr"/>
            <a:r>
              <a:rPr sz="1800" b="1">
                <a:solidFill>
                  <a:srgbClr val="1A3A4A"/>
                </a:solidFill>
                <a:latin typeface="Calibri"/>
              </a:rPr>
              <a:t>Models</a:t>
            </a:r>
          </a:p>
          <a:p>
            <a:r>
              <a:rPr sz="400"/>
              <a:t/>
            </a:r>
          </a:p>
          <a:p>
            <a:pPr algn="l" marL="228600" indent="-228600">
              <a:buFont typeface="Arial"/>
              <a:buChar char="•"/>
            </a:pPr>
            <a:r>
              <a:rPr sz="1300" b="0">
                <a:solidFill>
                  <a:srgbClr val="0F172A"/>
                </a:solidFill>
                <a:latin typeface="Calibri"/>
              </a:rPr>
              <a:t>Baseline + Gradient Boosting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561423" y="2007108"/>
            <a:ext cx="146304" cy="146304"/>
          </a:xfrm>
          <a:prstGeom prst="rightArrow">
            <a:avLst/>
          </a:prstGeom>
          <a:solidFill>
            <a:srgbClr val="7BA3B5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26015" y="1097280"/>
            <a:ext cx="2176272" cy="1965960"/>
          </a:xfrm>
          <a:prstGeom prst="roundRect">
            <a:avLst>
              <a:gd name="adj" fmla="val 18000"/>
            </a:avLst>
          </a:prstGeom>
          <a:solidFill>
            <a:srgbClr val="E8F4F8"/>
          </a:solidFill>
          <a:ln w="19050">
            <a:solidFill>
              <a:srgbClr val="7BA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28016" bIns="91440"/>
          <a:lstStyle/>
          <a:p>
            <a:pPr algn="ctr"/>
            <a:r>
              <a:rPr sz="1800" b="1">
                <a:solidFill>
                  <a:srgbClr val="1A3A4A"/>
                </a:solidFill>
                <a:latin typeface="Calibri"/>
              </a:rPr>
              <a:t>Streamlit App</a:t>
            </a:r>
          </a:p>
          <a:p>
            <a:r>
              <a:rPr sz="400"/>
              <a:t/>
            </a:r>
          </a:p>
          <a:p>
            <a:pPr algn="l" marL="228600" indent="-228600">
              <a:buFont typeface="Arial"/>
              <a:buChar char="•"/>
            </a:pPr>
            <a:r>
              <a:rPr sz="1300" b="0">
                <a:solidFill>
                  <a:srgbClr val="0F172A"/>
                </a:solidFill>
                <a:latin typeface="Calibri"/>
              </a:rPr>
              <a:t>DeepSeek</a:t>
            </a:r>
          </a:p>
          <a:p>
            <a:pPr algn="l" marL="228600" indent="-228600">
              <a:buFont typeface="Arial"/>
              <a:buChar char="•"/>
            </a:pPr>
            <a:r>
              <a:rPr sz="1300" b="0">
                <a:solidFill>
                  <a:srgbClr val="0F172A"/>
                </a:solidFill>
                <a:latin typeface="Calibri"/>
              </a:rPr>
              <a:t>Maps</a:t>
            </a:r>
          </a:p>
          <a:p>
            <a:pPr algn="l" marL="228600" indent="-228600">
              <a:buFont typeface="Arial"/>
              <a:buChar char="•"/>
            </a:pPr>
            <a:r>
              <a:rPr sz="1300" b="0">
                <a:solidFill>
                  <a:srgbClr val="0F172A"/>
                </a:solidFill>
                <a:latin typeface="Calibri"/>
              </a:rPr>
              <a:t>Speech-to-Text</a:t>
            </a:r>
          </a:p>
          <a:p>
            <a:pPr algn="l" marL="228600" indent="-228600">
              <a:buFont typeface="Arial"/>
              <a:buChar char="•"/>
            </a:pPr>
            <a:r>
              <a:rPr sz="1300" b="0">
                <a:solidFill>
                  <a:srgbClr val="0F172A"/>
                </a:solidFill>
                <a:latin typeface="Calibri"/>
              </a:rPr>
              <a:t>Edge Text-to-Speech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Group 4  ·  咪再兜 / HK Parking Vacancy Prediction  · 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Technical Skills Demonstrated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743200" cy="19202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2377440" cy="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23774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0D9488"/>
                </a:solidFill>
                <a:latin typeface="Calibri"/>
              </a:rPr>
              <a:t>Python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pandas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scikit-learn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Streamlit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httpx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80160"/>
            <a:ext cx="2743200" cy="19202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17320"/>
            <a:ext cx="2377440" cy="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1417320"/>
            <a:ext cx="23774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0D9488"/>
                </a:solidFill>
                <a:latin typeface="Calibri"/>
              </a:rPr>
              <a:t>SQL / DB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SQLite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Supabase Postgres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2743200" cy="19202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2377440" cy="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2377440" cy="1645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0D9488"/>
                </a:solidFill>
                <a:latin typeface="Calibri"/>
              </a:rPr>
              <a:t>Extract–Transform–Load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Scheduled collection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Migration scripts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280160"/>
            <a:ext cx="2743200" cy="19202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59" y="164591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2200" b="1">
              <a:solidFill>
                <a:srgbClr val="0D9488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281160" y="1417320"/>
            <a:ext cx="23774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D9488"/>
                </a:solidFill>
                <a:latin typeface="Calibri"/>
              </a:rPr>
              <a:t>API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Transport Department Vacancy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Hong Kong Observatory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Supabase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DeepSeek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Google Maps / Geocoding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Google Speech-to-Text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Edge Text-to-Speech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66160"/>
            <a:ext cx="2743200" cy="19202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03320"/>
            <a:ext cx="2377440" cy="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703320"/>
            <a:ext cx="23774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0D9488"/>
                </a:solidFill>
                <a:latin typeface="Calibri"/>
              </a:rPr>
              <a:t>EDA / Viz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Vacancy-rate heatmaps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Live vs baseline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3566160"/>
            <a:ext cx="2743200" cy="19202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3703320"/>
            <a:ext cx="2377440" cy="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20440" y="3703320"/>
            <a:ext cx="23774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0D9488"/>
                </a:solidFill>
                <a:latin typeface="Calibri"/>
              </a:rPr>
              <a:t>Machine Learning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Baseline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Gradient Boosting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566160"/>
            <a:ext cx="2743200" cy="19202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703320"/>
            <a:ext cx="2377440" cy="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3703320"/>
            <a:ext cx="23774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0D9488"/>
                </a:solidFill>
                <a:latin typeface="Calibri"/>
              </a:rPr>
              <a:t>GenAI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DeepSeek intent + replies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Google Speech-to-Text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Edge Text-to-Speech voice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3566160"/>
            <a:ext cx="2743200" cy="19202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3703320"/>
            <a:ext cx="2377440" cy="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81160" y="3703320"/>
            <a:ext cx="23774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0D9488"/>
                </a:solidFill>
                <a:latin typeface="Calibri"/>
              </a:rPr>
              <a:t>Deploy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GitHub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Streamlit Cloud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Group 4  ·  咪再兜 / HK Parking Vacancy Prediction  · 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Calibri"/>
              </a:rPr>
              <a:t>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EDA Insights</a:t>
            </a:r>
          </a:p>
        </p:txBody>
      </p:sp>
      <p:pic>
        <p:nvPicPr>
          <p:cNvPr id="7" name="Picture 6" descr="nb_chart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8534095" cy="5029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991295" y="1188720"/>
            <a:ext cx="2880360" cy="47548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74175" y="13716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9488"/>
                </a:solidFill>
                <a:latin typeface="Calibri"/>
              </a:rPr>
              <a:t>What we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74175" y="1920240"/>
            <a:ext cx="2514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Capacity-weighted vacancy rate by district × hour</a:t>
            </a:r>
          </a:p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Mid-day tighter; nights freer (especially Central Business District)</a:t>
            </a:r>
          </a:p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Central Business District (中西 / 油尖旺 / 灣仔) lower average rate</a:t>
            </a:r>
          </a:p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Some New Territories / Islands District stay freer on average</a:t>
            </a:r>
          </a:p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Patterns justify time + location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Group 4  ·  咪再兜 / HK Parking Vacancy Prediction  · 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Analysis &amp; Model Results</a:t>
            </a:r>
          </a:p>
        </p:txBody>
      </p:sp>
      <p:pic>
        <p:nvPicPr>
          <p:cNvPr id="7" name="Picture 6" descr="model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5852160" cy="3046457"/>
          </a:xfrm>
          <a:prstGeom prst="rect">
            <a:avLst/>
          </a:prstGeom>
        </p:spPr>
      </p:pic>
      <p:pic>
        <p:nvPicPr>
          <p:cNvPr id="9" name="Picture 8" descr="nb_chart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051560"/>
            <a:ext cx="5394960" cy="42340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7165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Gradient Boosting beats same-hour baseline; Friday 19:00 district ranking on the right</a:t>
            </a:r>
          </a:p>
        </p:txBody>
      </p:sp>
      <p:pic>
        <p:nvPicPr>
          <p:cNvPr id="11" name="Picture 10" descr="model_metric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5760" y="4160520"/>
            <a:ext cx="5852160" cy="15280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Group 4  ·  咪再兜 / HK Parking Vacancy Prediction  · 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Calibri"/>
              </a:rPr>
              <a:t>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Challenges, Limitations &amp; Future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486400" cy="47548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9488"/>
                </a:solidFill>
                <a:latin typeface="Calibri"/>
              </a:rPr>
              <a:t>Challenges &amp;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Early live collection gaps when machine sleeps</a:t>
            </a:r>
          </a:p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Car parks only — not on-street meters</a:t>
            </a:r>
          </a:p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Weather signals collected but underused</a:t>
            </a:r>
          </a:p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Short early training window; later expanded with 1-year baselines</a:t>
            </a:r>
          </a:p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Cloud disk limits for raw historical imports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486400" cy="47548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9488"/>
                </a:solidFill>
                <a:latin typeface="Calibri"/>
              </a:rPr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Cloud cron / Edge Function for 24×7 collection</a:t>
            </a:r>
          </a:p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Richer weather + holiday / event features</a:t>
            </a:r>
          </a:p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Persist trained models to storage</a:t>
            </a:r>
          </a:p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Vacancy level classes (low / mid / high)</a:t>
            </a:r>
          </a:p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Stronger LLM-generated suggestion copy</a:t>
            </a:r>
          </a:p>
          <a:p>
            <a:pPr marL="228600" indent="-228600">
              <a:buFont typeface="Arial"/>
              <a:buChar char="•"/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Deeper error analysis by district / hour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Group 4  ·  咪再兜 / HK Parking Vacancy Prediction  · 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Conclusion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475488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buFont typeface="Arial"/>
              <a:buChar char="•"/>
              <a:spcBef>
                <a:spcPts val="600"/>
              </a:spcBef>
              <a:spcAft>
                <a:spcPts val="18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Built an end-to-end data → Machine Learning → AI Agent product for HK parking vacancy</a:t>
            </a:r>
          </a:p>
          <a:p>
            <a:pPr algn="l" marL="228600" indent="-228600">
              <a:buFont typeface="Arial"/>
              <a:buChar char="•"/>
              <a:spcBef>
                <a:spcPts val="600"/>
              </a:spcBef>
              <a:spcAft>
                <a:spcPts val="18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Gradient Boosting improves MAE from ~17.8 → 10.40; classification F1 ≈ 0.957</a:t>
            </a:r>
          </a:p>
          <a:p>
            <a:pPr algn="l" marL="228600" indent="-228600">
              <a:buFont typeface="Arial"/>
              <a:buChar char="•"/>
              <a:spcBef>
                <a:spcPts val="600"/>
              </a:spcBef>
              <a:spcAft>
                <a:spcPts val="18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「咪再兜」lets drivers ask in Cantonese (text/voice) and get ranked suggestions</a:t>
            </a:r>
          </a:p>
          <a:p>
            <a:pPr algn="l" marL="228600" indent="-228600">
              <a:buFont typeface="Arial"/>
              <a:buChar char="•"/>
              <a:spcBef>
                <a:spcPts val="600"/>
              </a:spcBef>
              <a:spcAft>
                <a:spcPts val="18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Foundation ready for longer history, richer features, and always-on cloud Extract, Transform, Load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Group 4  ·  咪再兜 / HK Parking Vacancy Prediction  · 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Product Demo — 咪再兜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234440"/>
            <a:ext cx="5577840" cy="49377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pp_q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1367" y="1554480"/>
            <a:ext cx="3108960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74720" y="4800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34E4A"/>
                </a:solidFill>
                <a:latin typeface="Calibri"/>
              </a:rPr>
              <a:t>Scan to open 咪再兜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2578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Calibri"/>
              </a:rPr>
              <a:t>https://hk-parking-vacancy-prediction.streamlit.app/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