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6" r:id="rId17"/>
    <p:sldId id="267" r:id="rId18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11.xml"/><Relationship Id="rId17" Type="http://schemas.openxmlformats.org/officeDocument/2006/relationships/slide" Target="slides/slide9.xml"/><Relationship Id="rId18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18.png"/><Relationship Id="rId13" Type="http://schemas.openxmlformats.org/officeDocument/2006/relationships/image" Target="../media/image19.png"/><Relationship Id="rId14" Type="http://schemas.openxmlformats.org/officeDocument/2006/relationships/image" Target="../media/image20.png"/><Relationship Id="rId15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14400"/>
            <a:ext cx="1463040" cy="1463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560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Calibri"/>
              </a:rPr>
              <a:t>CAPSTONE PROJECT  ·  GROUP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Hong Kong Parking Vacancy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BD5E1"/>
                </a:solidFill>
                <a:latin typeface="Calibri"/>
              </a:rPr>
              <a:t>「咪再兜」— Predict private-car vacancies 30–60 minutes ahead
with official open data, ML baselines, and an AI Agent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Members: Lee Ki Yick (Keith)  ·  Chin Ka Wang (Kelvin)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Calibri"/>
              </a:rPr>
              <a:t>Group 4  ·  咪再兜 / HK Parking Vacancy Prediction  · 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Calibri"/>
              </a:rPr>
              <a:t>2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Calibri"/>
              </a:rPr>
              <a:t>Problem &amp; Research 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5486400" cy="457200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D9488"/>
                </a:solidFill>
                <a:latin typeface="Calibri"/>
              </a:rPr>
              <a:t>The pain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2024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0F172A"/>
                </a:solidFill>
                <a:latin typeface="Calibri"/>
              </a:rPr>
              <a:t>• Finding parking in HK is time-consuming and stressful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0F172A"/>
                </a:solidFill>
                <a:latin typeface="Calibri"/>
              </a:rPr>
              <a:t>• Drivers circle without knowing where spaces will open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0F172A"/>
                </a:solidFill>
                <a:latin typeface="Calibri"/>
              </a:rPr>
              <a:t>• Official vacancy data exists — but hard to use in real time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0F172A"/>
                </a:solidFill>
                <a:latin typeface="Calibri"/>
              </a:rPr>
              <a:t>• Need forward-looking guidance, not only “now”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486400" cy="4572000"/>
          </a:xfrm>
          <a:prstGeom prst="roundRect">
            <a:avLst/>
          </a:prstGeom>
          <a:solidFill>
            <a:srgbClr val="ECFE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D9488"/>
                </a:solidFill>
                <a:latin typeface="Calibri"/>
              </a:rPr>
              <a:t>Research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01168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Calibri"/>
              </a:rPr>
              <a:t>Can we predict whether a car park will have private-car vacancies (classification) and how many (regression) 30–60 minutes ahead, using official real-time data + time features — and beat a same-weekday-same-hour historical baseline?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Calibri"/>
              </a:rPr>
              <a:t>Group 4  ·  咪再兜 / HK Parking Vacancy Prediction  · 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Calibri"/>
              </a:rPr>
              <a:t>3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Calibri"/>
              </a:rPr>
              <a:t>Project Objectives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11247120" cy="82296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801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9488"/>
                </a:solidFill>
                <a:latin typeface="Calibri"/>
              </a:rPr>
              <a:t>1. Collect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344168"/>
            <a:ext cx="8595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Calibri"/>
              </a:rPr>
              <a:t>Automate TD Parking Vacancy API + HKO weather every ~10 minutes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11247120" cy="82296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24027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9488"/>
                </a:solidFill>
                <a:latin typeface="Calibri"/>
              </a:rPr>
              <a:t>2. Store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304288"/>
            <a:ext cx="8595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Calibri"/>
              </a:rPr>
              <a:t>ETL into SQLite / Supabase (carparks, vacancy_records, weather)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63240"/>
            <a:ext cx="11247120" cy="82296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2004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9488"/>
                </a:solidFill>
                <a:latin typeface="Calibri"/>
              </a:rPr>
              <a:t>3.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264408"/>
            <a:ext cx="8595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Calibri"/>
              </a:rPr>
              <a:t>Baseline + Gradient Boosting for count &amp; has-vacancy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023360"/>
            <a:ext cx="11247120" cy="82296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6052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9488"/>
                </a:solidFill>
                <a:latin typeface="Calibri"/>
              </a:rPr>
              <a:t>4. Serve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4224528"/>
            <a:ext cx="8595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Calibri"/>
              </a:rPr>
              <a:t>Ship Streamlit AI Agent「咪再兜」for natural-language queries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983480"/>
            <a:ext cx="11247120" cy="82296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1206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9488"/>
                </a:solidFill>
                <a:latin typeface="Calibri"/>
              </a:rPr>
              <a:t>5. Validate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5184648"/>
            <a:ext cx="8595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Calibri"/>
              </a:rPr>
              <a:t>Time-based evaluation vs historical average baseline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Calibri"/>
              </a:rPr>
              <a:t>Group 4  ·  咪再兜 / HK Parking Vacancy Prediction  · 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Calibri"/>
              </a:rPr>
              <a:t>4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Calibri"/>
              </a:rPr>
              <a:t>Dataset Description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2743200" cy="155448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D9488"/>
                </a:solidFill>
                <a:latin typeface="Calibri"/>
              </a:rPr>
              <a:t>~587+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Calibri"/>
              </a:rPr>
              <a:t>Car parks (territory-wide)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188720"/>
            <a:ext cx="2743200" cy="155448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5087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D9488"/>
                </a:solidFill>
                <a:latin typeface="Calibri"/>
              </a:rPr>
              <a:t>~18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1488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Calibri"/>
              </a:rPr>
              <a:t>HK districts covered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17520"/>
            <a:ext cx="2743200" cy="155448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3375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D9488"/>
                </a:solidFill>
                <a:latin typeface="Calibri"/>
              </a:rPr>
              <a:t>~34.9k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977639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Calibri"/>
              </a:rPr>
              <a:t>Historical snapshots (1 yr)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3017520"/>
            <a:ext cx="2743200" cy="155448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33375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D9488"/>
                </a:solidFill>
                <a:latin typeface="Calibri"/>
              </a:rPr>
              <a:t>~10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977639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Calibri"/>
              </a:rPr>
              <a:t>Collection cadence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188720"/>
            <a:ext cx="5303520" cy="457200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371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D9488"/>
                </a:solidFill>
                <a:latin typeface="Calibri"/>
              </a:rPr>
              <a:t>Sources &amp; characteristics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1920240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Calibri"/>
              </a:rPr>
              <a:t>• Transport Department Parking Vacancy API (privateCar)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Calibri"/>
              </a:rPr>
              <a:t>• HKO weather snapshots (temperature, humidity, …)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Calibri"/>
              </a:rPr>
              <a:t>• Baseline summary from ~1 year historical ZIPs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Calibri"/>
              </a:rPr>
              <a:t>• Features: hour, DOW, weekend, park/district, temperature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Calibri"/>
              </a:rPr>
              <a:t>• Preprocessing: filter vacancy≥0, time join, encode IDs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Calibri"/>
              </a:rPr>
              <a:t>• Scope note: car-park vacancy, not on-street meters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Calibri"/>
              </a:rPr>
              <a:t>Group 4  ·  咪再兜 / HK Parking Vacancy Prediction  · 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Calibri"/>
              </a:rPr>
              <a:t>5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Calibri"/>
              </a:rPr>
              <a:t>Methodology &amp; Pipeline</a:t>
            </a:r>
          </a:p>
        </p:txBody>
      </p:sp>
      <p:pic>
        <p:nvPicPr>
          <p:cNvPr id="7" name="Picture 6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11064240" cy="314036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3200400"/>
            <a:ext cx="3657600" cy="274320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D9488"/>
                </a:solidFill>
                <a:latin typeface="Calibri"/>
              </a:rPr>
              <a:t>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Calibri"/>
              </a:rPr>
              <a:t>• Same park × hour × weekday mean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Calibri"/>
              </a:rPr>
              <a:t>• Built from 365-day history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Calibri"/>
              </a:rPr>
              <a:t>• Strong, interpretable reference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3200400"/>
            <a:ext cx="3657600" cy="274320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383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D9488"/>
                </a:solidFill>
                <a:latin typeface="Calibri"/>
              </a:rPr>
              <a:t>ML 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384048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Calibri"/>
              </a:rPr>
              <a:t>• GB Regressor → vacancy count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Calibri"/>
              </a:rPr>
              <a:t>• GB Classifier → has_vacancy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Calibri"/>
              </a:rPr>
              <a:t>• Time-based 70/30 train/test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200400"/>
            <a:ext cx="3657600" cy="274320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3383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D9488"/>
                </a:solidFill>
                <a:latin typeface="Calibri"/>
              </a:rPr>
              <a:t>GenAI product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84048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Calibri"/>
              </a:rPr>
              <a:t>• NL / voice query → intent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Calibri"/>
              </a:rPr>
              <a:t>• Nearby ranking + map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Calibri"/>
              </a:rPr>
              <a:t>• Cantonese TTS recommendations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Calibri"/>
              </a:rPr>
              <a:t>Group 4  ·  咪再兜 / HK Parking Vacancy Prediction  · 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Calibri"/>
              </a:rPr>
              <a:t>6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Calibri"/>
              </a:rPr>
              <a:t>Technical Skills Demonstrated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2743200" cy="192024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45919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9488"/>
                </a:solidFill>
                <a:latin typeface="Calibri"/>
              </a:rPr>
              <a:t>Python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4748B"/>
                </a:solidFill>
                <a:latin typeface="Calibri"/>
              </a:rPr>
              <a:t>pandas, scikit-learn, Streamlit, httpx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280160"/>
            <a:ext cx="2743200" cy="192024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645919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9488"/>
                </a:solidFill>
                <a:latin typeface="Calibri"/>
              </a:rPr>
              <a:t>SQL /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2402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4748B"/>
                </a:solidFill>
                <a:latin typeface="Calibri"/>
              </a:rPr>
              <a:t>SQLite + Supabase Postgres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280160"/>
            <a:ext cx="2743200" cy="192024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45919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9488"/>
                </a:solidFill>
                <a:latin typeface="Calibri"/>
              </a:rPr>
              <a:t>ETL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2402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4748B"/>
                </a:solidFill>
                <a:latin typeface="Calibri"/>
              </a:rPr>
              <a:t>Scheduled collection &amp; migration scripts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1280160"/>
            <a:ext cx="2743200" cy="192024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59" y="1645919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9488"/>
                </a:solidFill>
                <a:latin typeface="Calibri"/>
              </a:rPr>
              <a:t>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59" y="22402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4748B"/>
                </a:solidFill>
                <a:latin typeface="Calibri"/>
              </a:rPr>
              <a:t>TD vacancy API + HKO weather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566160"/>
            <a:ext cx="2743200" cy="192024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9319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9488"/>
                </a:solidFill>
                <a:latin typeface="Calibri"/>
              </a:rPr>
              <a:t>EDA / Viz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262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4748B"/>
                </a:solidFill>
                <a:latin typeface="Calibri"/>
              </a:rPr>
              <a:t>District heatmaps, live vs baseline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37560" y="3566160"/>
            <a:ext cx="2743200" cy="192024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0440" y="39319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9488"/>
                </a:solidFill>
                <a:latin typeface="Calibri"/>
              </a:rPr>
              <a:t>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45262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4748B"/>
                </a:solidFill>
                <a:latin typeface="Calibri"/>
              </a:rPr>
              <a:t>Baseline + Gradient Boosting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3566160"/>
            <a:ext cx="2743200" cy="192024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319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9488"/>
                </a:solidFill>
                <a:latin typeface="Calibri"/>
              </a:rPr>
              <a:t>GenAI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5262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4748B"/>
                </a:solidFill>
                <a:latin typeface="Calibri"/>
              </a:rPr>
              <a:t>Intent parsing, voice I/O, agent UX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98280" y="3566160"/>
            <a:ext cx="2743200" cy="192024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81159" y="39319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9488"/>
                </a:solidFill>
                <a:latin typeface="Calibri"/>
              </a:rPr>
              <a:t>Deploy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1159" y="45262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4748B"/>
                </a:solidFill>
                <a:latin typeface="Calibri"/>
              </a:rPr>
              <a:t>GitHub + Streamlit Cloud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Calibri"/>
              </a:rPr>
              <a:t>Group 4  ·  咪再兜 / HK Parking Vacancy Prediction  · 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Calibri"/>
              </a:rPr>
              <a:t>7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Calibri"/>
              </a:rPr>
              <a:t>EDA Insights</a:t>
            </a:r>
          </a:p>
        </p:txBody>
      </p:sp>
      <p:pic>
        <p:nvPicPr>
          <p:cNvPr id="7" name="Picture 6" descr="nb_chart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8237740" cy="5029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863840" y="1188720"/>
            <a:ext cx="3931920" cy="475488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37160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D9488"/>
                </a:solidFill>
                <a:latin typeface="Calibri"/>
              </a:rPr>
              <a:t>What we 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920240"/>
            <a:ext cx="3566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Calibri"/>
              </a:rPr>
              <a:t>• Weekday baseline varies strongly by district × hour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Calibri"/>
              </a:rPr>
              <a:t>• Mid-day tends to be tighter; nights often freer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Calibri"/>
              </a:rPr>
              <a:t>• Central &amp; Western / YTM show higher mean vacancy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Calibri"/>
              </a:rPr>
              <a:t>• Dense residential districts stay tighter overall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Calibri"/>
              </a:rPr>
              <a:t>• Patterns justify time + location features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Calibri"/>
              </a:rPr>
              <a:t>Group 4  ·  咪再兜 / HK Parking Vacancy Prediction  · 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Calibri"/>
              </a:rPr>
              <a:t>8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Calibri"/>
              </a:rPr>
              <a:t>Analysis &amp; Model Results</a:t>
            </a:r>
          </a:p>
        </p:txBody>
      </p:sp>
      <p:pic>
        <p:nvPicPr>
          <p:cNvPr id="7" name="Picture 6" descr="model_m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5852160" cy="3046457"/>
          </a:xfrm>
          <a:prstGeom prst="rect">
            <a:avLst/>
          </a:prstGeom>
        </p:spPr>
      </p:pic>
      <p:pic>
        <p:nvPicPr>
          <p:cNvPr id="9" name="Picture 8" descr="nb_chart_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051560"/>
            <a:ext cx="5394960" cy="42340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71658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GB beats same-hour baseline; Friday 19:00 district ranking on the right</a:t>
            </a:r>
          </a:p>
        </p:txBody>
      </p:sp>
      <p:pic>
        <p:nvPicPr>
          <p:cNvPr id="11" name="Picture 10" descr="model_metric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5760" y="4160520"/>
            <a:ext cx="5852160" cy="15280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Calibri"/>
              </a:rPr>
              <a:t>Group 4  ·  咪再兜 / HK Parking Vacancy Prediction  · 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Calibri"/>
              </a:rPr>
              <a:t>9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Calibri"/>
              </a:rPr>
              <a:t>Challenges, Limitations &amp; Future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5486400" cy="475488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D9488"/>
                </a:solidFill>
                <a:latin typeface="Calibri"/>
              </a:rPr>
              <a:t>Challenges &amp;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Calibri"/>
              </a:rPr>
              <a:t>• Early live collection gaps when machine sleeps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Calibri"/>
              </a:rPr>
              <a:t>• Car parks only — not on-street meters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Calibri"/>
              </a:rPr>
              <a:t>• Weather signals collected but underused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Calibri"/>
              </a:rPr>
              <a:t>• Short early training window; later expanded with 1-year baselines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Calibri"/>
              </a:rPr>
              <a:t>• Cloud disk limits for raw historical imports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486400" cy="475488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D9488"/>
                </a:solidFill>
                <a:latin typeface="Calibri"/>
              </a:rP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Calibri"/>
              </a:rPr>
              <a:t>• Cloud cron / Edge Function for 24×7 collection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Calibri"/>
              </a:rPr>
              <a:t>• Richer weather + holiday / event features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Calibri"/>
              </a:rPr>
              <a:t>• Persist trained models to storage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Calibri"/>
              </a:rPr>
              <a:t>• Vacancy level classes (low / mid / high)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Calibri"/>
              </a:rPr>
              <a:t>• Stronger LLM-generated suggestion copy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Calibri"/>
              </a:rPr>
              <a:t>• Deeper error analysis by district / hour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Group 4  ·  咪再兜 / HK Parking Vacancy Prediction  · 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Calibri"/>
              </a:rPr>
              <a:t>10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Calibri"/>
              </a:rPr>
              <a:t>Conclusion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11247120" cy="4754880"/>
          </a:xfrm>
          <a:prstGeom prst="roundRect">
            <a:avLst>
              <a:gd name="adj" fmla="val 16667"/>
            </a:avLst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18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•  Built an end-to-end data → ML → AI Agent product for HK parking vacancy</a:t>
            </a:r>
          </a:p>
          <a:p>
            <a:pPr algn="l">
              <a:spcBef>
                <a:spcPts val="600"/>
              </a:spcBef>
              <a:spcAft>
                <a:spcPts val="18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•  Gradient Boosting improves MAE from ~17.8 → 10.40; classification F1 ≈ 0.957</a:t>
            </a:r>
          </a:p>
          <a:p>
            <a:pPr algn="l">
              <a:spcBef>
                <a:spcPts val="600"/>
              </a:spcBef>
              <a:spcAft>
                <a:spcPts val="18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•  「咪再兜」lets drivers ask in Cantonese (text/voice) and get ranked suggestions</a:t>
            </a:r>
          </a:p>
          <a:p>
            <a:pPr algn="l">
              <a:spcBef>
                <a:spcPts val="600"/>
              </a:spcBef>
              <a:spcAft>
                <a:spcPts val="18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•  Foundation ready for longer history, richer features, and always-on cloud ETL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Calibri"/>
              </a:rPr>
              <a:t>Group 4  ·  咪再兜 / HK Parking Vacancy Prediction  · 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Calibri"/>
              </a:rPr>
              <a:t>11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Calibri"/>
              </a:rPr>
              <a:t>Product Demo — 咪再兜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234440"/>
            <a:ext cx="5577840" cy="493776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pp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1367" y="1554480"/>
            <a:ext cx="310896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74720" y="4800600"/>
            <a:ext cx="5212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134E4A"/>
                </a:solidFill>
                <a:latin typeface="Calibri"/>
              </a:rPr>
              <a:t>Scan to open 咪再兜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525780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Calibri"/>
              </a:rPr>
              <a:t>https://hk-parking-vacancy-prediction.streamlit.app/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